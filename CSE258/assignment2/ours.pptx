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8"/>
  </p:notesMasterIdLst>
  <p:sldIdLst>
    <p:sldId id="256" r:id="rId2"/>
    <p:sldId id="290" r:id="rId3"/>
    <p:sldId id="285" r:id="rId4"/>
    <p:sldId id="311" r:id="rId5"/>
    <p:sldId id="283" r:id="rId6"/>
    <p:sldId id="279" r:id="rId7"/>
    <p:sldId id="280" r:id="rId8"/>
    <p:sldId id="281" r:id="rId9"/>
    <p:sldId id="293" r:id="rId10"/>
    <p:sldId id="270" r:id="rId11"/>
    <p:sldId id="264" r:id="rId12"/>
    <p:sldId id="265" r:id="rId13"/>
    <p:sldId id="266" r:id="rId14"/>
    <p:sldId id="294" r:id="rId15"/>
    <p:sldId id="297" r:id="rId16"/>
    <p:sldId id="303" r:id="rId17"/>
    <p:sldId id="304" r:id="rId18"/>
    <p:sldId id="295" r:id="rId19"/>
    <p:sldId id="305" r:id="rId20"/>
    <p:sldId id="306" r:id="rId21"/>
    <p:sldId id="307" r:id="rId22"/>
    <p:sldId id="296" r:id="rId23"/>
    <p:sldId id="308" r:id="rId24"/>
    <p:sldId id="309" r:id="rId25"/>
    <p:sldId id="310" r:id="rId26"/>
    <p:sldId id="292" r:id="rId27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1pPr>
    <a:lvl2pPr marL="0" marR="0" indent="1714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2pPr>
    <a:lvl3pPr marL="0" marR="0" indent="3429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3pPr>
    <a:lvl4pPr marL="0" marR="0" indent="5143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4pPr>
    <a:lvl5pPr marL="0" marR="0" indent="6858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5pPr>
    <a:lvl6pPr marL="0" marR="0" indent="8572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6pPr>
    <a:lvl7pPr marL="0" marR="0" indent="10287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7pPr>
    <a:lvl8pPr marL="0" marR="0" indent="12001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8pPr>
    <a:lvl9pPr marL="0" marR="0" indent="13716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/>
    <p:restoredTop sz="94694"/>
  </p:normalViewPr>
  <p:slideViewPr>
    <p:cSldViewPr snapToGrid="0" showGuides="1">
      <p:cViewPr varScale="1">
        <p:scale>
          <a:sx n="122" d="100"/>
          <a:sy n="122" d="100"/>
        </p:scale>
        <p:origin x="90" y="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 b="0" i="0"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  <a:sym typeface="Source Sans 3 Regular"/>
      </a:defRPr>
    </a:lvl1pPr>
    <a:lvl2pPr indent="8572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2pPr>
    <a:lvl3pPr indent="17145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3pPr>
    <a:lvl4pPr indent="25717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4pPr>
    <a:lvl5pPr indent="34290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5pPr>
    <a:lvl6pPr indent="42862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6pPr>
    <a:lvl7pPr indent="51435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7pPr>
    <a:lvl8pPr indent="60007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8pPr>
    <a:lvl9pPr indent="68580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16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0433-647C-01B3-A8F3-D9B8A69D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B26F3-8C27-2720-A3ED-9FF2007FA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DA1F0-EDC7-3DC2-571D-81C4D3D32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77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36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B21-0A58-C05E-90A8-43554CBC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5EA4D-6A02-DD42-474B-62A324858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9BDA9-098B-B312-98FF-AE1858641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32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96D5-2640-E545-CC13-B7FA9D59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6F20C-77A7-4B66-F62D-2D60FE71D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BCC50-4803-C876-46F1-8D5C45DAE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14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4064-EBBE-4D95-5235-B3C7E541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3B247-7D94-D280-798D-7AD8454BF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F790C-FD9F-35B8-A8AD-6CE5E8798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09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EB0B-5701-9C5B-B98E-D9C7435F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B816F-1A73-0371-BB54-727C4A5AC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49E3A-3E87-E27E-4433-B5FBB610E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59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UCSD-BrandRefresh-PPTBackgrounds-v4_Blues-NotchTop.png" descr="UCSD-BrandRefresh-PPTBackgrounds-v4_Blues-NotchTop.png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1850" y="0"/>
            <a:ext cx="91403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UCSanDiegoLogo-White.png"/>
          <p:cNvSpPr>
            <a:spLocks noGrp="1"/>
          </p:cNvSpPr>
          <p:nvPr>
            <p:ph type="pic" sz="quarter" idx="21" hasCustomPrompt="1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dirty="0"/>
          </a:p>
        </p:txBody>
      </p:sp>
      <p:sp>
        <p:nvSpPr>
          <p:cNvPr id="1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1" y="4447449"/>
            <a:ext cx="8229598" cy="23886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263128">
              <a:lnSpc>
                <a:spcPct val="100000"/>
              </a:lnSpc>
              <a:buNone/>
              <a:defRPr sz="11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Author and Date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782661"/>
            <a:ext cx="8229600" cy="7143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309563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  <a:lvl2pPr marL="2286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2pPr>
            <a:lvl3pPr marL="457200" indent="0" algn="l" defTabSz="309563">
              <a:lnSpc>
                <a:spcPct val="100000"/>
              </a:lnSpc>
              <a:buNone/>
              <a:defRPr sz="1875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3pPr>
            <a:lvl4pPr marL="685800" indent="0" algn="l" defTabSz="309563">
              <a:lnSpc>
                <a:spcPct val="100000"/>
              </a:lnSpc>
              <a:buNone/>
              <a:defRPr sz="1875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4pPr>
            <a:lvl5pPr marL="9144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5pPr>
          </a:lstStyle>
          <a:p>
            <a:r>
              <a:rPr dirty="0"/>
              <a:t>Presentation Subtitl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15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49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9DAA57-DA80-5EAC-B453-154C8D3D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3D468-9125-4251-B614-3D57305C31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0F45717-DC53-C050-C77F-5A8C0ACDA6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EFF6BA-0510-DF6F-C0F0-1023EA2028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0B93-35AA-47C1-BC59-13DFC7F6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1BE4795-2E63-448C-E789-737011D42C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FC921C-EE06-5F37-7579-94A37A66E0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043182-23AB-DE81-0C05-063A699844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CC48-70EF-8CF4-F472-E4C6E8F0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447D9FF-4388-0750-06A6-4E4E05381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 numCol="2" spcCol="274320"/>
          <a:lstStyle/>
          <a:p>
            <a:pPr lvl="0"/>
            <a:r>
              <a:rPr lang="en-US" dirty="0"/>
              <a:t>Click to edit two-column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421ECC-1C83-3BD8-E661-C5CA3DBEC2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82922A-1F57-13C2-3326-12CE31F95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23D4DA-0134-81F9-76AF-7977EAAF1B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2000" y="0"/>
            <a:ext cx="4572000" cy="51435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pic>
        <p:nvPicPr>
          <p:cNvPr id="12" name="UCSD-BrandRefresh-PPTBackgrounds-v4_Blues-NotchTopBottom.png" descr="UCSD-BrandRefresh-PPTBackgrounds-v4_Blues-NotchTopBottom.png">
            <a:extLst>
              <a:ext uri="{FF2B5EF4-FFF2-40B4-BE49-F238E27FC236}">
                <a16:creationId xmlns:a16="http://schemas.microsoft.com/office/drawing/2014/main" id="{D9EA6E96-2DCA-9905-082D-0177031622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8763" cy="51482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UCSanDiegoLogo-White.png">
            <a:extLst>
              <a:ext uri="{FF2B5EF4-FFF2-40B4-BE49-F238E27FC236}">
                <a16:creationId xmlns:a16="http://schemas.microsoft.com/office/drawing/2014/main" id="{94DA959D-AAFD-D5A2-C6B9-DC6C644EB3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A4D55DE-E117-849E-C707-C13C30845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3657599" cy="3128962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AD2FB-BAEB-5CBC-EF7F-7B679A3B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813"/>
            <a:ext cx="3657599" cy="6536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0284990-C0DE-D5E6-1D98-7CA0FDD70C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2497F74-0780-FBCA-C05D-E67FC676586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641B-6EE8-4542-4BA9-3AE36615C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4DB3179-3450-9F01-9949-63BE483F4F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/>
          <a:p>
            <a:pPr lvl="0"/>
            <a:r>
              <a:rPr lang="en-US" dirty="0"/>
              <a:t>Agenda item goes here</a:t>
            </a:r>
          </a:p>
          <a:p>
            <a:pPr lvl="1"/>
            <a:r>
              <a:rPr lang="en-US" dirty="0"/>
              <a:t>Sub-item goes here</a:t>
            </a:r>
          </a:p>
          <a:p>
            <a:pPr lvl="1"/>
            <a:r>
              <a:rPr lang="en-US" dirty="0"/>
              <a:t>Sub-item goes here</a:t>
            </a:r>
          </a:p>
          <a:p>
            <a:pPr lvl="0"/>
            <a:r>
              <a:rPr lang="en-US" dirty="0"/>
              <a:t>Agenda item goes here</a:t>
            </a:r>
          </a:p>
          <a:p>
            <a:pPr lvl="0"/>
            <a:r>
              <a:rPr lang="en-US" dirty="0"/>
              <a:t>Agenda item goes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AFDC2CF-C9ED-EF7E-88D5-04EA9DBEF0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78EA3C-581B-6219-9244-7D21620F23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#"/>
          <p:cNvSpPr>
            <a:spLocks noGrp="1"/>
          </p:cNvSpPr>
          <p:nvPr>
            <p:ph type="body" sz="quarter" idx="21" hasCustomPrompt="1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28" name="Agenda Item Goes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951212" y="130217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29" name="#"/>
          <p:cNvSpPr>
            <a:spLocks noGrp="1"/>
          </p:cNvSpPr>
          <p:nvPr>
            <p:ph type="body" sz="quarter" idx="23" hasCustomPrompt="1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0" name="#"/>
          <p:cNvSpPr>
            <a:spLocks noGrp="1"/>
          </p:cNvSpPr>
          <p:nvPr>
            <p:ph type="body" sz="quarter" idx="24" hasCustomPrompt="1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1" name="#"/>
          <p:cNvSpPr>
            <a:spLocks noGrp="1"/>
          </p:cNvSpPr>
          <p:nvPr>
            <p:ph type="body" sz="quarter" idx="25" hasCustomPrompt="1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2" name="#"/>
          <p:cNvSpPr>
            <a:spLocks noGrp="1"/>
          </p:cNvSpPr>
          <p:nvPr>
            <p:ph type="body" sz="quarter" idx="26" hasCustomPrompt="1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3" name="Agenda Item Goes Here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951212" y="188692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4" name="Agenda Item Goes Here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951212" y="247167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5" name="Agenda Item Goes Here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951212" y="305642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6" name="Agenda Item Goes Here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951212" y="364117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7" name="#"/>
          <p:cNvSpPr>
            <a:spLocks noGrp="1"/>
          </p:cNvSpPr>
          <p:nvPr>
            <p:ph type="body" sz="quarter" idx="31" hasCustomPrompt="1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8" name="Agenda Item Goes Here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5215419" y="130217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9" name="#"/>
          <p:cNvSpPr>
            <a:spLocks noGrp="1"/>
          </p:cNvSpPr>
          <p:nvPr>
            <p:ph type="body" sz="quarter" idx="33" hasCustomPrompt="1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0" name="#"/>
          <p:cNvSpPr>
            <a:spLocks noGrp="1"/>
          </p:cNvSpPr>
          <p:nvPr>
            <p:ph type="body" sz="quarter" idx="34" hasCustomPrompt="1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1" name="#"/>
          <p:cNvSpPr>
            <a:spLocks noGrp="1"/>
          </p:cNvSpPr>
          <p:nvPr>
            <p:ph type="body" sz="quarter" idx="35" hasCustomPrompt="1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2" name="#"/>
          <p:cNvSpPr>
            <a:spLocks noGrp="1"/>
          </p:cNvSpPr>
          <p:nvPr>
            <p:ph type="body" sz="quarter" idx="36" hasCustomPrompt="1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3" name="Agenda Item Goes Here"/>
          <p:cNvSpPr txBox="1">
            <a:spLocks noGrp="1"/>
          </p:cNvSpPr>
          <p:nvPr>
            <p:ph type="body" sz="quarter" idx="37" hasCustomPrompt="1"/>
          </p:nvPr>
        </p:nvSpPr>
        <p:spPr>
          <a:xfrm>
            <a:off x="5215419" y="188692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44" name="Agenda Item Goes Here"/>
          <p:cNvSpPr txBox="1">
            <a:spLocks noGrp="1"/>
          </p:cNvSpPr>
          <p:nvPr>
            <p:ph type="body" sz="quarter" idx="38" hasCustomPrompt="1"/>
          </p:nvPr>
        </p:nvSpPr>
        <p:spPr>
          <a:xfrm>
            <a:off x="5215419" y="247167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45" name="Agenda Item Goes Here"/>
          <p:cNvSpPr txBox="1">
            <a:spLocks noGrp="1"/>
          </p:cNvSpPr>
          <p:nvPr>
            <p:ph type="body" sz="quarter" idx="39" hasCustomPrompt="1"/>
          </p:nvPr>
        </p:nvSpPr>
        <p:spPr>
          <a:xfrm>
            <a:off x="5215419" y="305642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46" name="Agenda Item Goes Here"/>
          <p:cNvSpPr txBox="1">
            <a:spLocks noGrp="1"/>
          </p:cNvSpPr>
          <p:nvPr>
            <p:ph type="body" sz="quarter" idx="40" hasCustomPrompt="1"/>
          </p:nvPr>
        </p:nvSpPr>
        <p:spPr>
          <a:xfrm>
            <a:off x="5215419" y="364117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0622-E586-D2DE-4078-88F89B610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1694-8535-36F4-00A8-7E0C3F335793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2B0F-5FF9-430F-9036-C5219EEDC5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CSD-BrandRefresh-PPTBackgrounds-v4_Blues-NotchTopBottom.png" descr="UCSD-BrandRefresh-PPTBackgrounds-v4_Blues-NotchTopBottom.png">
            <a:extLst>
              <a:ext uri="{FF2B5EF4-FFF2-40B4-BE49-F238E27FC236}">
                <a16:creationId xmlns:a16="http://schemas.microsoft.com/office/drawing/2014/main" id="{5F985846-5CFC-136D-323D-4874477FA05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8763" cy="51482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UCSanDiegoLogo-White.png">
            <a:extLst>
              <a:ext uri="{FF2B5EF4-FFF2-40B4-BE49-F238E27FC236}">
                <a16:creationId xmlns:a16="http://schemas.microsoft.com/office/drawing/2014/main" id="{C73416EC-27BF-65AC-3738-9E092C8A23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48A6C597-26D8-1135-3219-8F5D1AE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813"/>
            <a:ext cx="6375400" cy="65365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CD74A2-5C42-4294-F48A-657B5E789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4854549"/>
            <a:ext cx="274319" cy="2191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882680-A1EE-E7ED-C5AB-CE326D438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A6684EF-69E9-43CC-C215-6D2F39D2F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854549"/>
            <a:ext cx="1561625" cy="2191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Blue Notch Template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59" r:id="rId7"/>
  </p:sldLayoutIdLst>
  <p:transition spd="med"/>
  <p:hf hdr="0" dt="0"/>
  <p:txStyles>
    <p:titleStyle>
      <a:lvl1pPr marL="0" marR="0" indent="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" b="1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1pPr>
      <a:lvl2pPr marL="0" marR="0" indent="1714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2pPr>
      <a:lvl3pPr marL="0" marR="0" indent="3429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3pPr>
      <a:lvl4pPr marL="0" marR="0" indent="5143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4pPr>
      <a:lvl5pPr marL="0" marR="0" indent="6858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5pPr>
      <a:lvl6pPr marL="0" marR="0" indent="8572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6pPr>
      <a:lvl7pPr marL="0" marR="0" indent="10287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7pPr>
      <a:lvl8pPr marL="0" marR="0" indent="12001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8pPr>
      <a:lvl9pPr marL="0" marR="0" indent="13716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9pPr>
    </p:titleStyle>
    <p:bodyStyle>
      <a:lvl1pPr marL="2286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1pPr>
      <a:lvl2pPr marL="4572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2pPr>
      <a:lvl3pPr marL="6858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3pPr>
      <a:lvl4pPr marL="9144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4pPr>
      <a:lvl5pPr marL="11430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5pPr>
      <a:lvl6pPr marL="914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6pPr>
      <a:lvl7pPr marL="4572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7pPr>
      <a:lvl8pPr marL="6858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8pPr>
      <a:lvl9pPr marL="914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9pPr>
    </p:bodyStyle>
    <p:otherStyle>
      <a:lvl1pPr marL="0" marR="0" indent="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1pPr>
      <a:lvl2pPr marL="0" marR="0" indent="1714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2pPr>
      <a:lvl3pPr marL="0" marR="0" indent="3429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3pPr>
      <a:lvl4pPr marL="0" marR="0" indent="5143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4pPr>
      <a:lvl5pPr marL="0" marR="0" indent="6858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5pPr>
      <a:lvl6pPr marL="0" marR="0" indent="8572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6pPr>
      <a:lvl7pPr marL="0" marR="0" indent="10287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7pPr>
      <a:lvl8pPr marL="0" marR="0" indent="12001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8pPr>
      <a:lvl9pPr marL="0" marR="0" indent="13716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5" orient="horz" pos="819" userDrawn="1">
          <p15:clr>
            <a:srgbClr val="F26B43"/>
          </p15:clr>
        </p15:guide>
        <p15:guide id="6" orient="horz" pos="2790" userDrawn="1">
          <p15:clr>
            <a:srgbClr val="F26B43"/>
          </p15:clr>
        </p15:guide>
        <p15:guide id="7" orient="horz" pos="252" userDrawn="1">
          <p15:clr>
            <a:srgbClr val="F26B43"/>
          </p15:clr>
        </p15:guide>
        <p15:guide id="8" orient="horz" pos="666" userDrawn="1">
          <p15:clr>
            <a:srgbClr val="F26B43"/>
          </p15:clr>
        </p15:guide>
        <p15:guide id="9" pos="288" userDrawn="1">
          <p15:clr>
            <a:srgbClr val="F26B43"/>
          </p15:clr>
        </p15:guide>
        <p15:guide id="10" pos="5472" userDrawn="1">
          <p15:clr>
            <a:srgbClr val="F26B43"/>
          </p15:clr>
        </p15:guide>
        <p15:guide id="11" pos="25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Image" descr="UC San Diego Logo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26" name="Blue Notch Template"/>
          <p:cNvSpPr txBox="1">
            <a:spLocks noGrp="1"/>
          </p:cNvSpPr>
          <p:nvPr>
            <p:ph type="ctrTitle"/>
          </p:nvPr>
        </p:nvSpPr>
        <p:spPr>
          <a:xfrm>
            <a:off x="457200" y="1715781"/>
            <a:ext cx="8229599" cy="171193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zh-Hans-HK" dirty="0"/>
              <a:t>Lights Out, Data On: Forecasting Formula 1 Podiums and Championship Points</a:t>
            </a:r>
            <a:endParaRPr lang="en-US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77706A-40E6-F46E-D096-10CCAF318F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0FC6F-3674-B145-8267-80F6D4942F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F0B11-582F-4402-DD1A-ED911B1139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82E20-7C4C-23EB-F4D9-9D90B8455D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4C7466-DA43-76BA-E1B4-E54DEF02EB7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0A70F1-CF11-2DD1-553F-460FDFBFB7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FD8289-7F0E-C1E8-691F-E8CE6F23A14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1212" y="1886920"/>
            <a:ext cx="4660234" cy="39528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Hans-HK" b="1" dirty="0"/>
              <a:t>Data Pre-processing and Exploratory Analysis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21EC04-F16A-E837-203D-29E8E95C9A5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zh-Hans-HK" b="1" dirty="0"/>
              <a:t>Modeling</a:t>
            </a:r>
            <a:endParaRPr lang="en-US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2F5A7E-A941-009D-F0A7-BA3EDAEAE6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1212" y="3056420"/>
            <a:ext cx="4166888" cy="395288"/>
          </a:xfrm>
        </p:spPr>
        <p:txBody>
          <a:bodyPr>
            <a:normAutofit/>
          </a:bodyPr>
          <a:lstStyle/>
          <a:p>
            <a:r>
              <a:rPr lang="en-US" altLang="zh-Hans-HK" b="1" dirty="0"/>
              <a:t>Evaluation</a:t>
            </a:r>
            <a:endParaRPr lang="en-US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39A02A-6630-B800-C550-D88C4FE943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altLang="zh-Hans-HK" b="1" dirty="0"/>
              <a:t>Discussion of related work</a:t>
            </a:r>
            <a:endParaRPr lang="en-US" b="1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A5EA996-87FE-AC8F-39DE-344426CE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0F4887C-6453-D97A-1EBA-DF6B45EB2604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10182D5C-5622-0748-8D9A-CE71C49FA20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6DF27DA6-DEEB-F603-6AEF-C16AB45849E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 altLang="zh-CN" b="1" dirty="0"/>
              <a:t>Contents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83129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占位符 14">
            <a:extLst>
              <a:ext uri="{FF2B5EF4-FFF2-40B4-BE49-F238E27FC236}">
                <a16:creationId xmlns:a16="http://schemas.microsoft.com/office/drawing/2014/main" id="{FA965ACC-AC6C-820A-63C1-CA88CE098BD6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9175"/>
          <a:stretch>
            <a:fillRect/>
          </a:stretch>
        </p:blipFill>
        <p:spPr/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32BE5997-CE97-DC31-9DC2-D7BFDFDB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033F0DFA-6010-E736-FFDE-19DAB1CB9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EC80CFA8-EACC-5885-51A2-71000378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72CC5-0674-7DF6-02EE-B5F5B88603D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9444EF-BCFF-0F56-F96C-25A576CC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96690"/>
            <a:ext cx="3657599" cy="6536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1. </a:t>
            </a:r>
            <a:r>
              <a:rPr lang="en-US" altLang="zh-Hans-HK" dirty="0"/>
              <a:t>Predictive Tasks and Evaluation</a:t>
            </a:r>
            <a:br>
              <a:rPr lang="en-US" altLang="zh-Hans-HK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4365FA-2564-AA39-BD05-39D75AC053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altLang="zh-Hans-HK" dirty="0"/>
          </a:p>
        </p:txBody>
      </p:sp>
    </p:spTree>
    <p:extLst>
      <p:ext uri="{BB962C8B-B14F-4D97-AF65-F5344CB8AC3E}">
        <p14:creationId xmlns:p14="http://schemas.microsoft.com/office/powerpoint/2010/main" val="295960990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C30F1-3009-FF8E-D721-1E122FC8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740D6EF0-DCD1-046B-9E42-41177C10F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B4011F37-4642-CD1D-9BDA-30AE11E3E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1148320A-735F-1861-9E68-EE981A1EE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2B1CB-5402-8093-7CB8-C7D6B8628C5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3D4EBE-FCC4-993B-B1CE-D3D2DB58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813"/>
            <a:ext cx="6967415" cy="653653"/>
          </a:xfrm>
        </p:spPr>
        <p:txBody>
          <a:bodyPr>
            <a:normAutofit fontScale="90000"/>
          </a:bodyPr>
          <a:lstStyle/>
          <a:p>
            <a:r>
              <a:rPr lang="en-US" altLang="zh-Hans-HK" dirty="0"/>
              <a:t>Formula 1 Background: What Are We Predicting?</a:t>
            </a:r>
            <a:endParaRPr lang="en-US" b="1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A3B9522-A57D-35B4-FA88-C2C5F529921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altLang="zh-Hans-HK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BB239D-90ED-4F2D-F37E-384E03A67405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320039" y="1058466"/>
            <a:ext cx="7701147" cy="3870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Formula 1 (F1) is the top tier of open-wheel motor racing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Annual World Championship with ~20–23 Grands Prix per season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Each race weekend has qualifying → starting grid → main race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Grid position is determined by qualifying lap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Race result gives points towards the Drivers’ and Constructors’ Championships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Points system rewards consistent high finishes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Top 10 finishers score points (e.g., P1 = 25, P2 = 18, P3 = 15, … in modern F1)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Podium = Top 3 finishers of each race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Performance depends on multiple factors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Driver skill, car and team (constructor), circuit layout, weather, regulations (era)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2537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32BE5997-CE97-DC31-9DC2-D7BFDFDB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033F0DFA-6010-E736-FFDE-19DAB1CB9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EC80CFA8-EACC-5885-51A2-71000378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72CC5-0674-7DF6-02EE-B5F5B88603D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139B-A9D2-BFA8-7CB4-DC27727283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058466"/>
            <a:ext cx="3657599" cy="3128962"/>
          </a:xfrm>
        </p:spPr>
        <p:txBody>
          <a:bodyPr>
            <a:normAutofit lnSpcReduction="10000"/>
          </a:bodyPr>
          <a:lstStyle/>
          <a:p>
            <a:r>
              <a:rPr lang="en-US" altLang="zh-Hans-HK" dirty="0"/>
              <a:t>Goal: use real Formula 1 data to study two predictive tasks</a:t>
            </a:r>
          </a:p>
          <a:p>
            <a:r>
              <a:rPr lang="en-US" altLang="zh-Hans-HK" dirty="0"/>
              <a:t>Task 1: predict which drivers will finish on the podium in a given race</a:t>
            </a:r>
          </a:p>
          <a:p>
            <a:r>
              <a:rPr lang="en-US" altLang="zh-Hans-HK" dirty="0"/>
              <a:t>Task 2: predict each driver’s final championship points from mid-season information</a:t>
            </a:r>
          </a:p>
          <a:p>
            <a:r>
              <a:rPr lang="en-US" altLang="zh-Hans-HK" dirty="0"/>
              <a:t>Methods: combine simple frequency-based baselines with classic models from this class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9444EF-BCFF-0F56-F96C-25A576CC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813"/>
            <a:ext cx="4282831" cy="653653"/>
          </a:xfrm>
        </p:spPr>
        <p:txBody>
          <a:bodyPr>
            <a:normAutofit/>
          </a:bodyPr>
          <a:lstStyle/>
          <a:p>
            <a:r>
              <a:rPr lang="en-US" altLang="zh-Hans-HK" dirty="0"/>
              <a:t>Project Overview</a:t>
            </a:r>
            <a:endParaRPr lang="en-US" b="1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7D99AC-D10E-FD1C-D096-AED9852758A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altLang="zh-Hans-HK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0AABDCD-4893-6E00-33BC-C6FC0077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26513"/>
            <a:ext cx="4282831" cy="155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9175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739E-7FBD-600B-C83B-D48E3905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 dirty="0"/>
              <a:t>Predictive Tasks We Study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09C68-CD6F-B8F9-F8EA-837F66B5FC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D2941-EA7D-4566-2C1F-CB8502549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altLang="zh-Hans-HK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79C7A27-594C-8553-F8A1-8C9DC15DCC7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1198804"/>
            <a:ext cx="5979522" cy="3331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Task 1 – Race-level podium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For each race, and each participating driver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Predict the probability that the driver finishes in the Top 3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Task 2 – Season-level points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For each driver–season pair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Predict the final championship points at the end of the season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The two tasks are complementary: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Task 1 focuses on single-race outcomes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Task 2 focuses on long-term season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9829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D71-5AAD-96EF-E409-54F2F3FD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87548"/>
            <a:ext cx="6375400" cy="653653"/>
          </a:xfrm>
        </p:spPr>
        <p:txBody>
          <a:bodyPr>
            <a:normAutofit/>
          </a:bodyPr>
          <a:lstStyle/>
          <a:p>
            <a:r>
              <a:rPr lang="en-US" altLang="zh-Hans-HK" dirty="0"/>
              <a:t>Task 1: Evaluation &amp; Baselines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9DCE2-7F1B-7D23-CD89-58BD53C08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ADBDC-A378-3179-8CF4-3B34D28C4E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altLang="zh-Hans-HK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93AA4E6-7310-CB69-BAC8-98A3CBDB931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199" y="1468108"/>
            <a:ext cx="7326923" cy="2793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Metrics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ROC-AUC, F1: podium vs non-podium classification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Recall@3, Top-1 accuracy: ranking quality within each race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Baselines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Simple frequencies: global, driver, driver–circuit, constructor, circuit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Era &amp; weather-aware driver podium rates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Grid-only: rank drivers by starting position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Logistic Regression: grid + pre-race form + short-term form + race weather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04183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D962-D8AE-C2C6-ED88-7515CEBA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ans-HK" dirty="0"/>
              <a:t>Task 2: Evaluation &amp; Baselines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02619-3109-7611-761F-860A67A7FA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A725-DD9F-45E7-F01B-B811858F4B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Predictive Tasks and Evaluation</a:t>
            </a:r>
            <a:endParaRPr lang="en-US" altLang="zh-Hans-H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F63E8C0-8BEB-B41A-1295-6C3CD316AAC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1333456"/>
            <a:ext cx="7629012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Metrics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MAE, RMSE: point prediction error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R²: variance in final points explained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Spearman: agreement with true season ranking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Baselines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Means: global mean, driver mean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mid_points baseline: use mid-season points directly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Era &amp; constructor means, constructor × weather means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zh-Hans-HK" altLang="zh-Hans-HK" dirty="0"/>
              <a:t>Linear Regression: mid_points + year + constructor + season-average weather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58028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A3C3-3949-9B5C-73BC-92A3788C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占位符 17">
            <a:extLst>
              <a:ext uri="{FF2B5EF4-FFF2-40B4-BE49-F238E27FC236}">
                <a16:creationId xmlns:a16="http://schemas.microsoft.com/office/drawing/2014/main" id="{A5F4BD14-2777-AD68-B2A3-8AEDDED55E6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1" r="5891"/>
          <a:stretch>
            <a:fillRect/>
          </a:stretch>
        </p:blipFill>
        <p:spPr/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1DAD3F79-836A-0135-A5D1-A7096D5BF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51DE7ED4-8792-FAD4-265F-1F21E76AC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163B2931-C947-F3E5-8BD3-A802E1F3F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19310-4E59-D7FE-55AD-ECC698476CE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34812B-5B88-55CE-4428-94574DD1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63" y="1918097"/>
            <a:ext cx="4029075" cy="65365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Part 2. </a:t>
            </a:r>
            <a:r>
              <a:rPr lang="en-US" altLang="zh-Hans-HK" dirty="0"/>
              <a:t>Data Pre-processing and Exploratory Analysis</a:t>
            </a:r>
            <a:br>
              <a:rPr lang="en-US" altLang="zh-Hans-HK" dirty="0"/>
            </a:br>
            <a:br>
              <a:rPr lang="en-US" altLang="zh-Hans-HK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425BD7-5B16-1A7F-8BB6-16A4D3014E4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Data Pre-processing and Exploratory Analysis</a:t>
            </a:r>
            <a:endParaRPr lang="en-US" altLang="zh-Hans-HK" dirty="0"/>
          </a:p>
        </p:txBody>
      </p:sp>
    </p:spTree>
    <p:extLst>
      <p:ext uri="{BB962C8B-B14F-4D97-AF65-F5344CB8AC3E}">
        <p14:creationId xmlns:p14="http://schemas.microsoft.com/office/powerpoint/2010/main" val="26923045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Agenda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Hans-HK" dirty="0"/>
              <a:t>Ensuring Valid Predictions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B04BC-F468-A7DD-9D71-29258EB0FC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F5623-AC32-A2A4-2D8C-A12B06A367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b="1" dirty="0"/>
              <a:t>Data Pre-processing and Exploratory Analysis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8B4476-850E-9885-9272-33D7A7492F9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1606609"/>
            <a:ext cx="6830716" cy="251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Temporal split: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Train 2000–2014, Val 2015–2018, Test 2019–2023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Compare models against intuitive baselines: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grid-only (Task 1), mid_points (Task 2)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Use multiple metrics: classification + regression + ranking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Check robustness across eras and weather, and inspect surprising cases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F2808-1EB5-4ADA-205B-2651DBD503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60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Hans-HK" dirty="0"/>
              <a:t>Data Sources and Scope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34672-4759-6269-84D0-AB828F7597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57199" y="4854548"/>
            <a:ext cx="1561625" cy="219102"/>
          </a:xfrm>
        </p:spPr>
        <p:txBody>
          <a:bodyPr/>
          <a:lstStyle/>
          <a:p>
            <a:r>
              <a:rPr lang="en-US" b="1" dirty="0"/>
              <a:t>Data Pre-processing and Exploratory Analysis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BAFE29-625C-940E-DE57-E922BBBA7EE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1737412"/>
            <a:ext cx="4684296" cy="225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Two Kaggle datasets: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Hans-HK" altLang="zh-Hans-HK" dirty="0"/>
              <a:t>F1 World Championship (1950–2024)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Hans-HK" altLang="zh-Hans-HK" dirty="0"/>
              <a:t>F1 Weather Info (1950–2024)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Hans-HK" altLang="zh-Hans-HK" dirty="0"/>
              <a:t>We keep only seasons 2000–2023: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Hans-HK" altLang="zh-Hans-HK" dirty="0"/>
              <a:t>Modern F1 era, more stable scoring and calendar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Hans-HK" altLang="zh-Hans-HK" dirty="0"/>
              <a:t>Better coverage and quality of weather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Hans-HK" dirty="0"/>
              <a:t>From Raw CSVs to Task Datasets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42C1B-B13E-FE89-0C8B-B2BDDDB1FA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E0FE4-3386-FC68-E827-EEB3DBF0CB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b="1" dirty="0"/>
              <a:t>Data Pre-processing and Exploratory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125CD3-3263-0B7F-383D-046CDE386280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1602760"/>
            <a:ext cx="7377341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Raw racing data (races, results, driver_standings, drivers, constructors)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Weather data (weather_features_v4: temperature, precipitation, windspeed)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Task 1 dataset: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One row per (race, driver), label is_podium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Task 2 dataset: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One row per (year, driver), with mid_points and final_points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Hans-HK" dirty="0"/>
              <a:t>Features and Basic Observations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16B8A-BCA4-88EB-F2CF-46AFE0E3E7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48456-E840-3CDE-E5C4-A823C64C51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b="1" dirty="0"/>
              <a:t>Data Pre-processing and Exploratory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CA69B0-2D83-9D3C-6738-BC5531D53AC2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267005" y="1044409"/>
            <a:ext cx="8969122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Task 1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grid, year/round, circuit, pre-race points and rank, recent finishes, constructor, race weather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Task 2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mid_points, year, main constructor, season-average weather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Dataset sizes (after filtering to 2000–2023):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Task 1: 5,860 train / 1,660 val / 2,080 test samples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Hans-HK" altLang="zh-Hans-HK" dirty="0"/>
              <a:t>Task 2: 340 train / 86 val / 103 test seasons</a:t>
            </a:r>
            <a:endParaRPr lang="en-US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zh-Hans-HK" altLang="zh-Hans-HK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Hans-HK" altLang="zh-Hans-HK" dirty="0"/>
              <a:t>mid_points and grid already show very strong signals, which our baselines and models build on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F61B-003E-6638-2E12-CDCEA1E5F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占位符 12">
            <a:extLst>
              <a:ext uri="{FF2B5EF4-FFF2-40B4-BE49-F238E27FC236}">
                <a16:creationId xmlns:a16="http://schemas.microsoft.com/office/drawing/2014/main" id="{7785ED50-BE1D-468F-6D58-9275F8A21207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2" b="6962"/>
          <a:stretch>
            <a:fillRect/>
          </a:stretch>
        </p:blipFill>
        <p:spPr/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CD5AC5C5-F6DA-3555-EA53-C915D49CB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51A95657-1F25-E823-EFC2-826AAE170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E14478EA-7731-9640-E558-E4A5B911E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BAFF6-A59D-7A15-5C99-DC8F28ED28E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2C7018-5D36-CEE1-7FA8-8473A72C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030413"/>
            <a:ext cx="3657599" cy="6536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3. </a:t>
            </a:r>
            <a:r>
              <a:rPr lang="en-US" altLang="zh-Hans-HK" dirty="0"/>
              <a:t>Modeling</a:t>
            </a:r>
            <a:br>
              <a:rPr lang="en-US" altLang="zh-Hans-HK" dirty="0"/>
            </a:br>
            <a:br>
              <a:rPr lang="en-US" altLang="zh-Hans-HK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DA3ECA-193E-C439-38B2-25FB23B0136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Modeling</a:t>
            </a:r>
            <a:endParaRPr lang="en-US" altLang="zh-Hans-HK" dirty="0"/>
          </a:p>
        </p:txBody>
      </p:sp>
    </p:spTree>
    <p:extLst>
      <p:ext uri="{BB962C8B-B14F-4D97-AF65-F5344CB8AC3E}">
        <p14:creationId xmlns:p14="http://schemas.microsoft.com/office/powerpoint/2010/main" val="16477094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5A18-45CB-0264-10D8-EBE8A56C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498049BF-35DA-6669-277C-F9CEC8367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9ABFD8-7FD9-4950-07BC-927FD5A06C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C0935-034F-B880-99DE-3E3F76C0DA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Modeling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3E49C0-5241-6298-94FB-9FCE673C08B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4149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50448-FEA1-E062-D95D-2EF5BDD3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86D697A6-BB2F-71A6-2F7F-EE4BE4B423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205C5E-9D3B-EC0C-171B-5993143F34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73723-3062-313A-E851-188EF8226B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Modeling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D352F8-C326-E26E-8D70-381CED418A2F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580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88E3-01DD-3F93-589C-B90DA117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029D3AB0-F203-0404-343B-68D8C92BDF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C2AF5D-87ED-5480-02CC-C03D517080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5ED74-C1B4-D9C1-2148-1D08715DE1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Modeling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B352C0-F952-9236-B76C-CA81030F96D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0992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DF1B-8AB7-C735-8C82-19AA871E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house on top of a building&#10;&#10;Description automatically generated">
            <a:extLst>
              <a:ext uri="{FF2B5EF4-FFF2-40B4-BE49-F238E27FC236}">
                <a16:creationId xmlns:a16="http://schemas.microsoft.com/office/drawing/2014/main" id="{41F9F91E-92E5-C1EF-299D-5D9EE438EDF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0" r="20370"/>
          <a:stretch>
            <a:fillRect/>
          </a:stretch>
        </p:blipFill>
        <p:spPr/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2EE9A0CE-DAAF-1175-BC91-B3AEB570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0F7B96A0-AE64-6B28-37B9-C7E901540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51E02F9B-07AF-0F17-02F6-FF9C137D8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6090A-DF18-2689-369C-1FACFBC1A0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D2BEB-DA5C-1961-DEA6-6E08D77B47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ED7260-5979-784E-8174-CF4A8A43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 4. </a:t>
            </a:r>
            <a:r>
              <a:rPr lang="en-US" altLang="zh-Hans-HK" dirty="0"/>
              <a:t>Evaluation</a:t>
            </a:r>
            <a:br>
              <a:rPr lang="en-US" altLang="zh-Hans-HK" dirty="0"/>
            </a:br>
            <a:br>
              <a:rPr lang="en-US" altLang="zh-Hans-HK" dirty="0"/>
            </a:br>
            <a:br>
              <a:rPr lang="en-US" altLang="zh-Hans-HK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A51F17-729F-2296-DD45-D10FC0EAA2D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Evaluation</a:t>
            </a:r>
            <a:endParaRPr lang="en-US" altLang="zh-Hans-HK" dirty="0"/>
          </a:p>
        </p:txBody>
      </p:sp>
    </p:spTree>
    <p:extLst>
      <p:ext uri="{BB962C8B-B14F-4D97-AF65-F5344CB8AC3E}">
        <p14:creationId xmlns:p14="http://schemas.microsoft.com/office/powerpoint/2010/main" val="25008536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AB2D-0458-D7A8-AFC7-08A127D5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6982AAAC-0D55-698A-AA98-E85B6907E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DBA53-1819-FE0A-7B3F-9A1FBC909C4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FB230-A349-FCF5-2C4A-81B5E61A7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Evaluation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C0A0C1-5093-214E-FFA4-DF986E2C48E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1824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06D7A-FD27-CC66-08C9-EECA3FA8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995271C7-8531-11FB-7DB6-F151D0404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F91408-FDE4-EBBD-CC0B-82CAF42CF0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2B0B02-1E9F-5CB4-C20A-3427DD465A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Evaluation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88A451-37C7-7860-C0FC-B95D7240429A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06285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7FC4-3309-993A-EF95-CA8E8B69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CF442625-F6D0-EAA0-0C53-C5BD5AC60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AD0C6F-BE19-4AB0-D376-7ECAF2A917C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B6023-52BA-9631-BAF0-209364093D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Evaluation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4E2FCB-82C1-209D-08EE-7F1C5270FDB0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3262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70C2-B255-A7C8-3FBB-A4D1DC845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占位符 12">
            <a:extLst>
              <a:ext uri="{FF2B5EF4-FFF2-40B4-BE49-F238E27FC236}">
                <a16:creationId xmlns:a16="http://schemas.microsoft.com/office/drawing/2014/main" id="{7048788E-1E3F-79BF-81E4-471104B5A643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8" b="3638"/>
          <a:stretch>
            <a:fillRect/>
          </a:stretch>
        </p:blipFill>
        <p:spPr>
          <a:xfrm>
            <a:off x="4571999" y="0"/>
            <a:ext cx="4572000" cy="5143500"/>
          </a:xfrm>
        </p:spPr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45C9883B-E162-DDBE-59E3-134A2298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CB49453B-C1DA-ECD0-D417-0F8B9A2FE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8C0FF909-7AB0-0186-49BF-4187DFDA7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0B1E1-F95D-05DE-79B7-E75F4B47FA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r>
              <a:rPr lang="en-US" dirty="0"/>
              <a:t>32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1FEE2E-2F29-CE19-C9CD-412E079B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769864"/>
            <a:ext cx="3657599" cy="6536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Part 5. </a:t>
            </a:r>
            <a:r>
              <a:rPr lang="en-US" altLang="zh-Hans-HK" dirty="0"/>
              <a:t>Discussion of related work</a:t>
            </a:r>
            <a:br>
              <a:rPr lang="en-US" altLang="zh-Hans-HK" dirty="0"/>
            </a:br>
            <a:br>
              <a:rPr lang="en-US" altLang="zh-Hans-HK" dirty="0"/>
            </a:br>
            <a:br>
              <a:rPr lang="en-US" altLang="zh-Hans-HK" dirty="0"/>
            </a:b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33DFCB-C2AA-DE59-2793-AED35A13BB9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Hans-HK" b="1" dirty="0"/>
              <a:t>Discussion of related work</a:t>
            </a:r>
            <a:endParaRPr lang="en-US" altLang="zh-Hans-HK" dirty="0"/>
          </a:p>
        </p:txBody>
      </p:sp>
    </p:spTree>
    <p:extLst>
      <p:ext uri="{BB962C8B-B14F-4D97-AF65-F5344CB8AC3E}">
        <p14:creationId xmlns:p14="http://schemas.microsoft.com/office/powerpoint/2010/main" val="157032299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E521-D558-7C50-81A0-90A86881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BC1ADA73-A409-D960-B32D-C87504C35D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A1A882-03A2-7A05-B7C3-80E679833EC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9D186-4109-DA00-21DB-4FB00F5805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Discussion of related work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85E777-AB49-4490-2E2E-D6729B3AF72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54547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6722-2386-1C68-383F-139E4109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89FFB2FF-2496-2EC9-7913-044DB9924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E21B5-D0CB-CFEF-F880-A4282EDA92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AC0F57-F7FE-8588-EBB4-5BE2B021EB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Discussion of related work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6B4A83-4212-A228-5A8D-AD06DF4E5BA7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64539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45EAA-3639-AE04-8111-0C7FE499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>
            <a:extLst>
              <a:ext uri="{FF2B5EF4-FFF2-40B4-BE49-F238E27FC236}">
                <a16:creationId xmlns:a16="http://schemas.microsoft.com/office/drawing/2014/main" id="{F10CDB7C-7C0A-DBF7-BD6A-9222ED13F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06D69-D9D3-8B93-4CE4-E5BEC58E60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DDE11-56B4-F429-557A-40E9E52CD8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Hans-HK" b="1" dirty="0"/>
              <a:t>Discussion of related work</a:t>
            </a:r>
            <a:endParaRPr lang="en-US" altLang="zh-Hans-H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2D8712-255E-51A5-F1AA-7387C7A4BB23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57200" y="26799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Hans-HK" altLang="zh-Hans-H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95832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Image" descr="UC San Diego Logo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26" name="Blue Notch Template"/>
          <p:cNvSpPr txBox="1">
            <a:spLocks noGrp="1"/>
          </p:cNvSpPr>
          <p:nvPr>
            <p:ph type="ctrTitle"/>
          </p:nvPr>
        </p:nvSpPr>
        <p:spPr>
          <a:xfrm>
            <a:off x="457200" y="1057275"/>
            <a:ext cx="8229600" cy="3371850"/>
          </a:xfrm>
          <a:prstGeom prst="rect">
            <a:avLst/>
          </a:prstGeom>
        </p:spPr>
        <p:txBody>
          <a:bodyPr anchor="ctr" anchorCtr="0">
            <a:normAutofit/>
          </a:bodyPr>
          <a:lstStyle/>
          <a:p>
            <a:pPr algn="ctr"/>
            <a:r>
              <a:rPr lang="en-US" sz="6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3584623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Blue Notch">
      <a:dk1>
        <a:srgbClr val="182B48"/>
      </a:dk1>
      <a:lt1>
        <a:srgbClr val="FEFFFF"/>
      </a:lt1>
      <a:dk2>
        <a:srgbClr val="182B48"/>
      </a:dk2>
      <a:lt2>
        <a:srgbClr val="FEFFFF"/>
      </a:lt2>
      <a:accent1>
        <a:srgbClr val="00629B"/>
      </a:accent1>
      <a:accent2>
        <a:srgbClr val="00C5D6"/>
      </a:accent2>
      <a:accent3>
        <a:srgbClr val="B6B1A8"/>
      </a:accent3>
      <a:accent4>
        <a:srgbClr val="00629B"/>
      </a:accent4>
      <a:accent5>
        <a:srgbClr val="00C5D6"/>
      </a:accent5>
      <a:accent6>
        <a:srgbClr val="B6B1A8"/>
      </a:accent6>
      <a:hlink>
        <a:srgbClr val="00629B"/>
      </a:hlink>
      <a:folHlink>
        <a:srgbClr val="7475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3 Medium"/>
            <a:ea typeface="Source Sans 3 Medium"/>
            <a:cs typeface="Source Sans 3 Medium"/>
            <a:sym typeface="Source Sans 3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Teko Bold"/>
        <a:ea typeface="Teko Bold"/>
        <a:cs typeface="Teko Bold"/>
      </a:majorFont>
      <a:minorFont>
        <a:latin typeface="Teko Bold"/>
        <a:ea typeface="Teko Bold"/>
        <a:cs typeface="Teko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3 Medium"/>
            <a:ea typeface="Source Sans 3 Medium"/>
            <a:cs typeface="Source Sans 3 Medium"/>
            <a:sym typeface="Source Sans 3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822</Words>
  <Application>Microsoft Office PowerPoint</Application>
  <PresentationFormat>全屏显示(16:9)</PresentationFormat>
  <Paragraphs>157</Paragraphs>
  <Slides>26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Source Sans 3</vt:lpstr>
      <vt:lpstr>Source Sans 3 Regular</vt:lpstr>
      <vt:lpstr>Arial</vt:lpstr>
      <vt:lpstr>Calibri</vt:lpstr>
      <vt:lpstr>21_BasicWhite</vt:lpstr>
      <vt:lpstr>Lights Out, Data On: Forecasting Formula 1 Podiums and Championship Points</vt:lpstr>
      <vt:lpstr>CONTENTS</vt:lpstr>
      <vt:lpstr>Part 1. Predictive Tasks and Evaluation </vt:lpstr>
      <vt:lpstr>Formula 1 Background: What Are We Predicting?</vt:lpstr>
      <vt:lpstr>Project Overview</vt:lpstr>
      <vt:lpstr>Predictive Tasks We Study</vt:lpstr>
      <vt:lpstr>Task 1: Evaluation &amp; Baselines</vt:lpstr>
      <vt:lpstr>Task 2: Evaluation &amp; Baselines</vt:lpstr>
      <vt:lpstr>Part 2. Data Pre-processing and Exploratory Analysis  </vt:lpstr>
      <vt:lpstr>Ensuring Valid Predictions</vt:lpstr>
      <vt:lpstr>Data Sources and Scope</vt:lpstr>
      <vt:lpstr>From Raw CSVs to Task Datasets</vt:lpstr>
      <vt:lpstr>Features and Basic Observations</vt:lpstr>
      <vt:lpstr>Part 3. Modeling  </vt:lpstr>
      <vt:lpstr>PowerPoint 演示文稿</vt:lpstr>
      <vt:lpstr>PowerPoint 演示文稿</vt:lpstr>
      <vt:lpstr>PowerPoint 演示文稿</vt:lpstr>
      <vt:lpstr>Part 4. Evaluation   </vt:lpstr>
      <vt:lpstr>PowerPoint 演示文稿</vt:lpstr>
      <vt:lpstr>PowerPoint 演示文稿</vt:lpstr>
      <vt:lpstr>PowerPoint 演示文稿</vt:lpstr>
      <vt:lpstr>Part 5. Discussion of related work   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Notch Template</dc:title>
  <dc:creator>齐昊旻</dc:creator>
  <cp:lastModifiedBy>昊旻 齐</cp:lastModifiedBy>
  <cp:revision>39</cp:revision>
  <dcterms:modified xsi:type="dcterms:W3CDTF">2025-12-01T22:03:55Z</dcterms:modified>
</cp:coreProperties>
</file>